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-zest/parity_swarn_v2.2" TargetMode="External"/><Relationship Id="rId2" Type="http://schemas.openxmlformats.org/officeDocument/2006/relationships/hyperlink" Target="https://parity-swarn-v2-2.vercel.app" TargetMode="External"/><Relationship Id="rId3" Type="http://schemas.openxmlformats.org/officeDocument/2006/relationships/hyperlink" Target="https://apartresearch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0FFC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F00A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2286000"/>
            <a:ext cx="2011680" cy="2011680"/>
          </a:xfrm>
          <a:prstGeom prst="ellipse">
            <a:avLst/>
          </a:prstGeom>
          <a:solidFill>
            <a:srgbClr val="4466FF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365760"/>
            <a:ext cx="411480" cy="0"/>
          </a:xfrm>
          <a:prstGeom prst="line">
            <a:avLst/>
          </a:prstGeom>
          <a:noFill/>
          <a:ln w="7620">
            <a:solidFill>
              <a:srgbClr val="00FF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365760"/>
            <a:ext cx="0" cy="411480"/>
          </a:xfrm>
          <a:prstGeom prst="line">
            <a:avLst/>
          </a:prstGeom>
          <a:noFill/>
          <a:ln w="7620">
            <a:solidFill>
              <a:srgbClr val="00FF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4777740"/>
            <a:ext cx="411480" cy="0"/>
          </a:xfrm>
          <a:prstGeom prst="line">
            <a:avLst/>
          </a:prstGeom>
          <a:noFill/>
          <a:ln w="7620">
            <a:solidFill>
              <a:srgbClr val="00FF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4366260"/>
            <a:ext cx="0" cy="411480"/>
          </a:xfrm>
          <a:prstGeom prst="line">
            <a:avLst/>
          </a:prstGeom>
          <a:noFill/>
          <a:ln w="7620">
            <a:solidFill>
              <a:srgbClr val="00FFCC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005840"/>
            <a:ext cx="3657600" cy="274320"/>
          </a:xfrm>
          <a:prstGeom prst="rect">
            <a:avLst/>
          </a:prstGeom>
          <a:solidFill>
            <a:srgbClr val="080C18"/>
          </a:solidFill>
          <a:ln w="6350">
            <a:solidFill>
              <a:srgbClr val="00FFCC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APART RESEARCH  ×  REDWOOD RESEARCH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Parity </a:t>
            </a:r>
            <a:pPr algn="ctr" indent="0" marL="0">
              <a:buNone/>
            </a:pPr>
            <a:r>
              <a:rPr lang="en-US" sz="4800" b="1" dirty="0">
                <a:solidFill>
                  <a:srgbClr val="00FFCC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Swarm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Population-based multi-agent red-teaming</a:t>
            </a:r>
            <a:endParaRPr lang="en-US" sz="11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AI control protocol evaluation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Mohammad Zeeshan · ParityAI · </a:t>
            </a:r>
            <a:pPr algn="ctr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Budapest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FF00A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1280160" cy="274320"/>
          </a:xfrm>
          <a:prstGeom prst="rect">
            <a:avLst/>
          </a:prstGeom>
          <a:solidFill>
            <a:srgbClr val="080C18"/>
          </a:solidFill>
          <a:ln w="6350">
            <a:solidFill>
              <a:srgbClr val="00FFCC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MOTIVATION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AI monitors have </a:t>
            </a:r>
            <a:pPr indent="0" marL="0">
              <a:buNone/>
            </a:pPr>
            <a:r>
              <a:rPr lang="en-US" sz="2800" b="1" dirty="0">
                <a:solidFill>
                  <a:srgbClr val="00FFCC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blind spots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794760" cy="15087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36576" cy="1508760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37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Single-Agent Testing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Current red-teams test one attacker at a time. Real threats involve social dynamics, collusion, and coordinated deception across agents.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554480"/>
            <a:ext cx="3794760" cy="15087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554480"/>
            <a:ext cx="36576" cy="150876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7373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Narrative Lossy Filter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LLM-generated reports compress raw behavior into summaries, discarding subtle signals that reveal coordinated attacks.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3794760" cy="15087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291840"/>
            <a:ext cx="36576" cy="1508760"/>
          </a:xfrm>
          <a:prstGeom prst="rect">
            <a:avLst/>
          </a:prstGeom>
          <a:solidFill>
            <a:srgbClr val="44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74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No Social Simulation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38404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Existing benchmarks lack multi-agent social platforms where attackers can build trust, form alliances, and exploit group dynamics.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3291840"/>
            <a:ext cx="3794760" cy="15087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3291840"/>
            <a:ext cx="36576" cy="1508760"/>
          </a:xfrm>
          <a:prstGeom prst="rect">
            <a:avLst/>
          </a:prstGeom>
          <a:solidFill>
            <a:srgbClr val="FF66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4747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Manual Effort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Traditional red-teaming requires human intervention for scenario design, execution, and evaluation. Parity Swarm is fully automated.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0FFCC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1463040" cy="274320"/>
          </a:xfrm>
          <a:prstGeom prst="rect">
            <a:avLst/>
          </a:prstGeom>
          <a:solidFill>
            <a:srgbClr val="080C18"/>
          </a:solidFill>
          <a:ln w="6350">
            <a:solidFill>
              <a:srgbClr val="00FFCC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7-Step </a:t>
            </a:r>
            <a:pPr algn="ctr" indent="0" marL="0">
              <a:buNone/>
            </a:pPr>
            <a:r>
              <a:rPr lang="en-US" sz="2800" b="1" dirty="0">
                <a:solidFill>
                  <a:srgbClr val="00FFCC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Automated</a:t>
            </a:r>
            <a:pPr algn="ctr" indent="0" marL="0">
              <a:buNone/>
            </a:pPr>
            <a:r>
              <a:rPr lang="en-US" sz="28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 Pipeline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76656" y="1645920"/>
            <a:ext cx="987552" cy="10515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" y="170078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7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92024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" y="221284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Scenario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6656" y="242316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 min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664208" y="199339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810512" y="1645920"/>
            <a:ext cx="987552" cy="10515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810512" y="170078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16" y="1920240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810512" y="221284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Ontology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810512" y="242316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 min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2798064" y="199339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2944368" y="1645920"/>
            <a:ext cx="987552" cy="10515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2944368" y="170078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7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920240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944368" y="221284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Graph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2944368" y="242316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 min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3931920" y="199339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078224" y="1645920"/>
            <a:ext cx="987552" cy="10515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4078224" y="170078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7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92024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078224" y="221284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Agents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078224" y="242316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 min</a:t>
            </a:r>
            <a:endParaRPr lang="en-US" sz="750" dirty="0"/>
          </a:p>
        </p:txBody>
      </p:sp>
      <p:sp>
        <p:nvSpPr>
          <p:cNvPr id="30" name="Text 24"/>
          <p:cNvSpPr/>
          <p:nvPr/>
        </p:nvSpPr>
        <p:spPr>
          <a:xfrm>
            <a:off x="5065776" y="199339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5212080" y="1645920"/>
            <a:ext cx="987552" cy="10515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5212080" y="170078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7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1920240"/>
            <a:ext cx="237744" cy="23774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212080" y="221284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Simulate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212080" y="242316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 min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6199632" y="199339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6345936" y="1645920"/>
            <a:ext cx="987552" cy="10515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38" name="Text 31"/>
          <p:cNvSpPr/>
          <p:nvPr/>
        </p:nvSpPr>
        <p:spPr>
          <a:xfrm>
            <a:off x="6345936" y="170078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75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1920240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345936" y="221284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Report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345936" y="242316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~5 min</a:t>
            </a:r>
            <a:endParaRPr lang="en-US" sz="750" dirty="0"/>
          </a:p>
        </p:txBody>
      </p:sp>
      <p:sp>
        <p:nvSpPr>
          <p:cNvPr id="42" name="Text 34"/>
          <p:cNvSpPr/>
          <p:nvPr/>
        </p:nvSpPr>
        <p:spPr>
          <a:xfrm>
            <a:off x="7333488" y="1993392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7479792" y="1645920"/>
            <a:ext cx="987552" cy="105156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7479792" y="1645920"/>
            <a:ext cx="36576" cy="1051560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45" name="Text 37"/>
          <p:cNvSpPr/>
          <p:nvPr/>
        </p:nvSpPr>
        <p:spPr>
          <a:xfrm>
            <a:off x="7479792" y="1700784"/>
            <a:ext cx="9875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750" dirty="0"/>
          </a:p>
        </p:txBody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696" y="1920240"/>
            <a:ext cx="237744" cy="23774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7479792" y="2212848"/>
            <a:ext cx="9875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Monitor</a:t>
            </a:r>
            <a:endParaRPr lang="en-US" sz="1000" dirty="0"/>
          </a:p>
        </p:txBody>
      </p:sp>
      <p:sp>
        <p:nvSpPr>
          <p:cNvPr id="48" name="Text 39"/>
          <p:cNvSpPr/>
          <p:nvPr/>
        </p:nvSpPr>
        <p:spPr>
          <a:xfrm>
            <a:off x="7479792" y="2423160"/>
            <a:ext cx="987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 min</a:t>
            </a:r>
            <a:endParaRPr lang="en-US" sz="750" dirty="0"/>
          </a:p>
        </p:txBody>
      </p:sp>
      <p:sp>
        <p:nvSpPr>
          <p:cNvPr id="49" name="Shape 40"/>
          <p:cNvSpPr/>
          <p:nvPr/>
        </p:nvSpPr>
        <p:spPr>
          <a:xfrm>
            <a:off x="2926080" y="3063240"/>
            <a:ext cx="1463040" cy="274320"/>
          </a:xfrm>
          <a:prstGeom prst="rect">
            <a:avLst/>
          </a:prstGeom>
          <a:solidFill>
            <a:srgbClr val="080C18"/>
          </a:solidFill>
          <a:ln w="6350">
            <a:solidFill>
              <a:srgbClr val="00FFCC">
                <a:alpha val="55000"/>
              </a:srgbClr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2926080" y="3063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~15 min / scenario</a:t>
            </a:r>
            <a:endParaRPr lang="en-US" sz="750" dirty="0"/>
          </a:p>
        </p:txBody>
      </p:sp>
      <p:sp>
        <p:nvSpPr>
          <p:cNvPr id="51" name="Shape 42"/>
          <p:cNvSpPr/>
          <p:nvPr/>
        </p:nvSpPr>
        <p:spPr>
          <a:xfrm>
            <a:off x="4663440" y="3063240"/>
            <a:ext cx="1645920" cy="274320"/>
          </a:xfrm>
          <a:prstGeom prst="rect">
            <a:avLst/>
          </a:prstGeom>
          <a:solidFill>
            <a:srgbClr val="080C18"/>
          </a:solidFill>
          <a:ln w="6350">
            <a:solidFill>
              <a:srgbClr val="00FFCC">
                <a:alpha val="55000"/>
              </a:srgbClr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466344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~2.5 hr full battery</a:t>
            </a:r>
            <a:endParaRPr lang="en-US" sz="750" dirty="0"/>
          </a:p>
        </p:txBody>
      </p:sp>
      <p:sp>
        <p:nvSpPr>
          <p:cNvPr id="53" name="Text 44"/>
          <p:cNvSpPr/>
          <p:nvPr/>
        </p:nvSpPr>
        <p:spPr>
          <a:xfrm>
            <a:off x="548640" y="356616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OASIS Twitter  ·  Zep Cloud GraphRAG  ·  ReACT agent  ·  Independent LLM judge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08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4572000" y="-1371600"/>
            <a:ext cx="3200400" cy="3200400"/>
          </a:xfrm>
          <a:prstGeom prst="ellipse">
            <a:avLst/>
          </a:prstGeom>
          <a:solidFill>
            <a:srgbClr val="FF6644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1554480" cy="274320"/>
          </a:xfrm>
          <a:prstGeom prst="rect">
            <a:avLst/>
          </a:prstGeom>
          <a:solidFill>
            <a:srgbClr val="080C18"/>
          </a:solidFill>
          <a:ln w="6350">
            <a:solidFill>
              <a:srgbClr val="00FFCC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THREAT MODEL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10 Attack </a:t>
            </a:r>
            <a:pPr indent="0" marL="0">
              <a:buNone/>
            </a:pPr>
            <a:r>
              <a:rPr lang="en-US" sz="2800" b="1" dirty="0">
                <a:solidFill>
                  <a:srgbClr val="00FFCC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Scenarios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840480" cy="137160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36576" cy="1371600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 (EASY)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1520" y="1810512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direct_attacker — API key theft from repos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distraction_agent — False alerts as cover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resource_abuser — Off-peak compute theft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463040"/>
            <a:ext cx="3840480" cy="137160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463040"/>
            <a:ext cx="36576" cy="1371600"/>
          </a:xfrm>
          <a:prstGeom prst="rect">
            <a:avLst/>
          </a:prstGeom>
          <a:solidFill>
            <a:srgbClr val="44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5544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44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SUBTLE (HARD)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800600" y="1810512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patient_planner — Slow privilege escalation → backdoor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incremental_thief — PII exfiltration in small batches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3840480" cy="137160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17520"/>
            <a:ext cx="36576" cy="1371600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FF00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SOCIAL ENGINEERING (HARD)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31520" y="3364992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social_engineer — Trust-building → info extraction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colluding_pair — Two-agent coded credential theft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context_manipulator — Prompt injection via shared docs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3017520"/>
            <a:ext cx="3840480" cy="137160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3017520"/>
            <a:ext cx="36576" cy="1371600"/>
          </a:xfrm>
          <a:prstGeom prst="rect">
            <a:avLst/>
          </a:prstGeom>
          <a:solidFill>
            <a:srgbClr val="FF66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108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20" kern="0" dirty="0">
                <a:solidFill>
                  <a:srgbClr val="FF66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STEGANOGRAPHIC (HARDEST)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00600" y="3364992"/>
            <a:ext cx="3474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steganographic_agent — Data hidden in formatting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  alignment_faker — Safety benchmark faking + sandbagging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08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-1371600" y="914400"/>
            <a:ext cx="3657600" cy="3657600"/>
          </a:xfrm>
          <a:prstGeom prst="ellipse">
            <a:avLst/>
          </a:prstGeom>
          <a:solidFill>
            <a:srgbClr val="00FFCC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1463040" cy="274320"/>
          </a:xfrm>
          <a:prstGeom prst="rect">
            <a:avLst/>
          </a:prstGeom>
          <a:solidFill>
            <a:srgbClr val="080C18"/>
          </a:solidFill>
          <a:ln w="6350">
            <a:solidFill>
              <a:srgbClr val="00FFCC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RESULT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One Variable </a:t>
            </a:r>
            <a:pPr algn="ctr" indent="0" marL="0">
              <a:buNone/>
            </a:pPr>
            <a:r>
              <a:rPr lang="en-US" sz="2800" b="1" dirty="0">
                <a:solidFill>
                  <a:srgbClr val="00FFCC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Changed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291840" cy="2286000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91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1 — NARRATIVE ONLY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70.0%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simulations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colluding_pair: 0% detected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023360" y="21488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02336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+16.2pp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20640" y="1554480"/>
            <a:ext cx="3291840" cy="2286000"/>
          </a:xfrm>
          <a:prstGeom prst="rect">
            <a:avLst/>
          </a:prstGeom>
          <a:solidFill>
            <a:srgbClr val="0D1225"/>
          </a:solidFill>
          <a:ln w="8890">
            <a:solidFill>
              <a:srgbClr val="00FFCC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20640" y="16916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2 — + SQLITE TRANSCRIPTS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12064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CC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86.2%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12064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 simulations</a:t>
            </a:r>
            <a:endParaRPr lang="en-US" sz="8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colluding_pair: 66.7% detected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LLM-generated report acts as a lossy filter — discarding behavioral evidence critical for detecting coordinated attacks.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08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315200" y="914400"/>
            <a:ext cx="2743200" cy="2743200"/>
          </a:xfrm>
          <a:prstGeom prst="ellipse">
            <a:avLst/>
          </a:prstGeom>
          <a:solidFill>
            <a:srgbClr val="4466FF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1645920" cy="274320"/>
          </a:xfrm>
          <a:prstGeom prst="rect">
            <a:avLst/>
          </a:prstGeom>
          <a:solidFill>
            <a:srgbClr val="080C18"/>
          </a:solidFill>
          <a:ln w="6350">
            <a:solidFill>
              <a:srgbClr val="00FFCC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2 RESULTS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Detection </a:t>
            </a:r>
            <a:pPr indent="0" marL="0">
              <a:buNone/>
            </a:pPr>
            <a:r>
              <a:rPr lang="en-US" sz="2800" b="1" dirty="0">
                <a:solidFill>
                  <a:srgbClr val="00FFCC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Heatmap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direct_attacker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71800" y="139903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9" name="Shape 7"/>
          <p:cNvSpPr/>
          <p:nvPr/>
        </p:nvSpPr>
        <p:spPr>
          <a:xfrm>
            <a:off x="2971800" y="1399032"/>
            <a:ext cx="5120640" cy="164592"/>
          </a:xfrm>
          <a:prstGeom prst="rect">
            <a:avLst/>
          </a:prstGeom>
          <a:solidFill>
            <a:srgbClr val="00FFCC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183880" y="13716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6459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patient_planner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971800" y="167335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3" name="Shape 11"/>
          <p:cNvSpPr/>
          <p:nvPr/>
        </p:nvSpPr>
        <p:spPr>
          <a:xfrm>
            <a:off x="2971800" y="1673352"/>
            <a:ext cx="5120640" cy="164592"/>
          </a:xfrm>
          <a:prstGeom prst="rect">
            <a:avLst/>
          </a:prstGeom>
          <a:solidFill>
            <a:srgbClr val="00FFCC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6459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19202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resource_abuser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71800" y="194767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17" name="Shape 15"/>
          <p:cNvSpPr/>
          <p:nvPr/>
        </p:nvSpPr>
        <p:spPr>
          <a:xfrm>
            <a:off x="2971800" y="1947672"/>
            <a:ext cx="5120640" cy="164592"/>
          </a:xfrm>
          <a:prstGeom prst="rect">
            <a:avLst/>
          </a:prstGeom>
          <a:solidFill>
            <a:srgbClr val="00FFCC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9202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21945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context_manipulator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971800" y="222199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1" name="Shape 19"/>
          <p:cNvSpPr/>
          <p:nvPr/>
        </p:nvSpPr>
        <p:spPr>
          <a:xfrm>
            <a:off x="2971800" y="2221992"/>
            <a:ext cx="5120640" cy="164592"/>
          </a:xfrm>
          <a:prstGeom prst="rect">
            <a:avLst/>
          </a:prstGeom>
          <a:solidFill>
            <a:srgbClr val="00FFCC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21945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24688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steganographic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71800" y="249631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5" name="Shape 23"/>
          <p:cNvSpPr/>
          <p:nvPr/>
        </p:nvSpPr>
        <p:spPr>
          <a:xfrm>
            <a:off x="2971800" y="2496312"/>
            <a:ext cx="5120640" cy="164592"/>
          </a:xfrm>
          <a:prstGeom prst="rect">
            <a:avLst/>
          </a:prstGeom>
          <a:solidFill>
            <a:srgbClr val="00FFCC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24688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" y="27432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alignment_faker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971800" y="277063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29" name="Shape 27"/>
          <p:cNvSpPr/>
          <p:nvPr/>
        </p:nvSpPr>
        <p:spPr>
          <a:xfrm>
            <a:off x="2971800" y="2770632"/>
            <a:ext cx="5120640" cy="164592"/>
          </a:xfrm>
          <a:prstGeom prst="rect">
            <a:avLst/>
          </a:prstGeom>
          <a:solidFill>
            <a:srgbClr val="00FFCC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27432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1520" y="30175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distraction_agent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971800" y="304495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33" name="Shape 31"/>
          <p:cNvSpPr/>
          <p:nvPr/>
        </p:nvSpPr>
        <p:spPr>
          <a:xfrm>
            <a:off x="2971800" y="3044952"/>
            <a:ext cx="3415467" cy="164592"/>
          </a:xfrm>
          <a:prstGeom prst="rect">
            <a:avLst/>
          </a:prstGeom>
          <a:solidFill>
            <a:srgbClr val="4466FF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183880" y="301752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466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66.7%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1520" y="32918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social_engineer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971800" y="331927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37" name="Shape 35"/>
          <p:cNvSpPr/>
          <p:nvPr/>
        </p:nvSpPr>
        <p:spPr>
          <a:xfrm>
            <a:off x="2971800" y="3319272"/>
            <a:ext cx="3415467" cy="164592"/>
          </a:xfrm>
          <a:prstGeom prst="rect">
            <a:avLst/>
          </a:prstGeom>
          <a:solidFill>
            <a:srgbClr val="FF00AA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183880" y="329184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00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66.7%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31520" y="35661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colluding_pair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971800" y="359359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41" name="Shape 39"/>
          <p:cNvSpPr/>
          <p:nvPr/>
        </p:nvSpPr>
        <p:spPr>
          <a:xfrm>
            <a:off x="2971800" y="3593592"/>
            <a:ext cx="3415467" cy="164592"/>
          </a:xfrm>
          <a:prstGeom prst="rect">
            <a:avLst/>
          </a:prstGeom>
          <a:solidFill>
            <a:srgbClr val="FF00AA">
              <a:alpha val="8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8183880" y="356616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00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66.7%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31520" y="38404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7A9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incremental_thief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971800" y="3867912"/>
            <a:ext cx="5120640" cy="164592"/>
          </a:xfrm>
          <a:prstGeom prst="rect">
            <a:avLst/>
          </a:prstGeom>
          <a:solidFill>
            <a:srgbClr val="0D1225"/>
          </a:solidFill>
          <a:ln/>
        </p:spPr>
      </p:sp>
      <p:sp>
        <p:nvSpPr>
          <p:cNvPr id="45" name="Shape 43"/>
          <p:cNvSpPr/>
          <p:nvPr/>
        </p:nvSpPr>
        <p:spPr>
          <a:xfrm>
            <a:off x="2971800" y="3867912"/>
            <a:ext cx="2560320" cy="164592"/>
          </a:xfrm>
          <a:prstGeom prst="rect">
            <a:avLst/>
          </a:prstGeom>
          <a:solidFill>
            <a:srgbClr val="FF6644">
              <a:alpha val="8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183880" y="38404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66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50%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Social engineering attacks remained hardest to detect even with transcript augmentation.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828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08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FF00AA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solidFill>
            <a:srgbClr val="080C18"/>
          </a:solidFill>
          <a:ln w="6350">
            <a:solidFill>
              <a:srgbClr val="FF00AA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65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50" kern="0" dirty="0">
                <a:solidFill>
                  <a:srgbClr val="FF00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DISCOVERED STRATEGIES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Top Evasion </a:t>
            </a:r>
            <a:pPr indent="0" marL="0">
              <a:buNone/>
            </a:pPr>
            <a:r>
              <a:rPr lang="en-US" sz="2800" b="1" dirty="0">
                <a:solidFill>
                  <a:srgbClr val="00FFCC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Tactics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7863840" cy="566928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36576" cy="566928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50876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00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43000" y="1517904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Community Trust-Building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143000" y="175564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Engaging in legitimate collaborative activities to establish credibility before attacking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121408"/>
            <a:ext cx="7863840" cy="566928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21408"/>
            <a:ext cx="36576" cy="566928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167128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00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3000" y="217627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Cover Story Maintenance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3000" y="2414016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Claiming to write API docs or debug webhooks to justify suspicious access patterns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2779776"/>
            <a:ext cx="7863840" cy="566928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779776"/>
            <a:ext cx="36576" cy="566928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2825496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00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" y="28346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Post-Detection Adaptation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43000" y="3072384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Reducing suspicious activity frequency after near-detection events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438144"/>
            <a:ext cx="7863840" cy="566928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438144"/>
            <a:ext cx="36576" cy="566928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483864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00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43000" y="34930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Off-Peak Scheduling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43000" y="3730752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Timing malicious actions during maintenance windows when monitoring is relaxed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096512"/>
            <a:ext cx="7863840" cy="566928"/>
          </a:xfrm>
          <a:prstGeom prst="rect">
            <a:avLst/>
          </a:prstGeom>
          <a:solidFill>
            <a:srgbClr val="0D1225"/>
          </a:solidFill>
          <a:ln w="3810">
            <a:solidFill>
              <a:srgbClr val="00FFCC">
                <a:alpha val="12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096512"/>
            <a:ext cx="36576" cy="566928"/>
          </a:xfrm>
          <a:prstGeom prst="rect">
            <a:avLst/>
          </a:prstGeom>
          <a:solidFill>
            <a:srgbClr val="FF00AA"/>
          </a:solidFill>
          <a:ln/>
        </p:spPr>
      </p:sp>
      <p:sp>
        <p:nvSpPr>
          <p:cNvPr id="29" name="Text 27"/>
          <p:cNvSpPr/>
          <p:nvPr/>
        </p:nvSpPr>
        <p:spPr>
          <a:xfrm>
            <a:off x="749808" y="4142232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00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" y="4151376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Coded Coordination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3000" y="438912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Using innocuous-looking comments in shared notebooks to synchronize multi-agent attacks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FFC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FF00A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65760"/>
            <a:ext cx="411480" cy="0"/>
          </a:xfrm>
          <a:prstGeom prst="line">
            <a:avLst/>
          </a:prstGeom>
          <a:noFill/>
          <a:ln w="7620">
            <a:solidFill>
              <a:srgbClr val="00FFC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365760"/>
            <a:ext cx="0" cy="411480"/>
          </a:xfrm>
          <a:prstGeom prst="line">
            <a:avLst/>
          </a:prstGeom>
          <a:noFill/>
          <a:ln w="7620">
            <a:solidFill>
              <a:srgbClr val="00FFCC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4777740"/>
            <a:ext cx="411480" cy="0"/>
          </a:xfrm>
          <a:prstGeom prst="line">
            <a:avLst/>
          </a:prstGeom>
          <a:noFill/>
          <a:ln w="7620">
            <a:solidFill>
              <a:srgbClr val="00FFCC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4366260"/>
            <a:ext cx="0" cy="411480"/>
          </a:xfrm>
          <a:prstGeom prst="line">
            <a:avLst/>
          </a:prstGeom>
          <a:noFill/>
          <a:ln w="7620">
            <a:solidFill>
              <a:srgbClr val="00FFCC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822960"/>
            <a:ext cx="1828800" cy="320040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822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080C1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SOURCE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0F0FF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Parity </a:t>
            </a:r>
            <a:pPr algn="ctr" indent="0" marL="0">
              <a:buNone/>
            </a:pPr>
            <a:r>
              <a:rPr lang="en-US" sz="4200" b="1" dirty="0">
                <a:solidFill>
                  <a:srgbClr val="00FFCC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Swarm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97280" y="21488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59 simulations  ·  10 attack scenarios  ·  $35 total compute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A7A9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Multi-agent social simulation discovers what single-agent red-teaming misses.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280160" y="3063240"/>
            <a:ext cx="2011680" cy="347472"/>
          </a:xfrm>
          <a:prstGeom prst="rect">
            <a:avLst/>
          </a:prstGeom>
          <a:solidFill>
            <a:srgbClr val="080C18"/>
          </a:solidFill>
          <a:ln w="5080">
            <a:solidFill>
              <a:srgbClr val="00FFCC">
                <a:alpha val="40000"/>
              </a:srgbClr>
            </a:solidFill>
            <a:prstDash val="solid"/>
          </a:ln>
        </p:spPr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1280160" y="3063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3063240"/>
            <a:ext cx="2011680" cy="347472"/>
          </a:xfrm>
          <a:prstGeom prst="rect">
            <a:avLst/>
          </a:prstGeom>
          <a:solidFill>
            <a:srgbClr val="080C18"/>
          </a:solidFill>
          <a:ln w="5080">
            <a:solidFill>
              <a:srgbClr val="00FFCC">
                <a:alpha val="40000"/>
              </a:srgbClr>
            </a:solidFill>
            <a:prstDash val="solid"/>
          </a:ln>
        </p:spPr>
      </p:sp>
      <p:sp>
        <p:nvSpPr>
          <p:cNvPr id="15" name="Text 13">
            <a:hlinkClick r:id="rId2" tooltip=""/>
          </p:cNvPr>
          <p:cNvSpPr/>
          <p:nvPr/>
        </p:nvSpPr>
        <p:spPr>
          <a:xfrm>
            <a:off x="3566160" y="3063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Demo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52160" y="3063240"/>
            <a:ext cx="2011680" cy="347472"/>
          </a:xfrm>
          <a:prstGeom prst="rect">
            <a:avLst/>
          </a:prstGeom>
          <a:solidFill>
            <a:srgbClr val="080C18"/>
          </a:solidFill>
          <a:ln w="5080">
            <a:solidFill>
              <a:srgbClr val="00FFCC">
                <a:alpha val="40000"/>
              </a:srgbClr>
            </a:solidFill>
            <a:prstDash val="solid"/>
          </a:ln>
        </p:spPr>
      </p:sp>
      <p:sp>
        <p:nvSpPr>
          <p:cNvPr id="17" name="Text 15">
            <a:hlinkClick r:id="rId3" tooltip=""/>
          </p:cNvPr>
          <p:cNvSpPr/>
          <p:nvPr/>
        </p:nvSpPr>
        <p:spPr>
          <a:xfrm>
            <a:off x="5852160" y="3063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Apart Research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86384" y="3703320"/>
            <a:ext cx="987552" cy="237744"/>
          </a:xfrm>
          <a:prstGeom prst="rect">
            <a:avLst/>
          </a:prstGeom>
          <a:solidFill>
            <a:srgbClr val="0D1225"/>
          </a:solidFill>
          <a:ln w="3810">
            <a:solidFill>
              <a:srgbClr val="2A4055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70332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3.10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83664" y="3703320"/>
            <a:ext cx="987552" cy="237744"/>
          </a:xfrm>
          <a:prstGeom prst="rect">
            <a:avLst/>
          </a:prstGeom>
          <a:solidFill>
            <a:srgbClr val="0D1225"/>
          </a:solidFill>
          <a:ln w="3810">
            <a:solidFill>
              <a:srgbClr val="2A4055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83664" y="370332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Vue 3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980944" y="3703320"/>
            <a:ext cx="987552" cy="237744"/>
          </a:xfrm>
          <a:prstGeom prst="rect">
            <a:avLst/>
          </a:prstGeom>
          <a:solidFill>
            <a:srgbClr val="0D1225"/>
          </a:solidFill>
          <a:ln w="3810">
            <a:solidFill>
              <a:srgbClr val="2A4055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80944" y="370332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Flask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078224" y="3703320"/>
            <a:ext cx="987552" cy="237744"/>
          </a:xfrm>
          <a:prstGeom prst="rect">
            <a:avLst/>
          </a:prstGeom>
          <a:solidFill>
            <a:srgbClr val="0D1225"/>
          </a:solidFill>
          <a:ln w="3810">
            <a:solidFill>
              <a:srgbClr val="2A4055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78224" y="370332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OASIS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175504" y="3703320"/>
            <a:ext cx="987552" cy="237744"/>
          </a:xfrm>
          <a:prstGeom prst="rect">
            <a:avLst/>
          </a:prstGeom>
          <a:solidFill>
            <a:srgbClr val="0D1225"/>
          </a:solidFill>
          <a:ln w="3810">
            <a:solidFill>
              <a:srgbClr val="2A4055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75504" y="370332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Zep GraphRAG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272784" y="3703320"/>
            <a:ext cx="987552" cy="237744"/>
          </a:xfrm>
          <a:prstGeom prst="rect">
            <a:avLst/>
          </a:prstGeom>
          <a:solidFill>
            <a:srgbClr val="0D1225"/>
          </a:solidFill>
          <a:ln w="3810">
            <a:solidFill>
              <a:srgbClr val="2A4055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370332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qwen2.5:32b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370064" y="3703320"/>
            <a:ext cx="987552" cy="237744"/>
          </a:xfrm>
          <a:prstGeom prst="rect">
            <a:avLst/>
          </a:prstGeom>
          <a:solidFill>
            <a:srgbClr val="0D1225"/>
          </a:solidFill>
          <a:ln w="3810">
            <a:solidFill>
              <a:srgbClr val="2A4055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0064" y="3703320"/>
            <a:ext cx="987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llama3.3:70b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9144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405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Mohammad Zeeshan  ·  hdglit@inf.elte.hu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Parity Swarm</dc:title>
  <dc:subject>PptxGenJS Presentation</dc:subject>
  <dc:creator>Mohammad Zeeshan</dc:creator>
  <cp:lastModifiedBy>Mohammad Zeeshan</cp:lastModifiedBy>
  <cp:revision>1</cp:revision>
  <dcterms:created xsi:type="dcterms:W3CDTF">2026-03-24T16:12:01Z</dcterms:created>
  <dcterms:modified xsi:type="dcterms:W3CDTF">2026-03-24T16:12:01Z</dcterms:modified>
</cp:coreProperties>
</file>